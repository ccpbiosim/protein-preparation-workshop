
<file path=[Content_Types].xml><?xml version="1.0" encoding="utf-8"?>
<Types xmlns="http://schemas.openxmlformats.org/package/2006/content-types">
  <Default Extension="jpeg" ContentType="image/jpeg"/>
  <Default Extension="org&amp;utm_campaign=index&amp;utm_content=thumbnail_unscaled&amp;_=20130430141003" ContentType="image/pn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3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E51D3-0136-D067-F28E-FF4A68BF95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32D34A-F793-53EB-7F88-3CFABB1937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CBB8A5-B265-7303-6F09-0468198A9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AE559-9776-3E40-B4D9-E5E130381696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5E9DB-AD72-E8C9-744B-1FFCE5603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17740-3598-06AC-1B10-00610C811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43AE3-9B9F-644C-B16E-906505865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195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A0FEB-6D95-BC21-2F63-63BE988AC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50F03-11BA-A5E7-B0CF-6042190B29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6A7A8A-5454-EC5A-5DE0-9E218BC3B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AE559-9776-3E40-B4D9-E5E130381696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C0B68-1484-6F79-6722-75952D04A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E79CF-8B03-48B4-5867-B383EC6CE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43AE3-9B9F-644C-B16E-906505865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528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C5EA3-F81A-1665-0277-61B06D389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43A650-B75D-37EF-FCE8-E2E5627F7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FC3D9-A882-3353-4D83-5F17B453E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AE559-9776-3E40-B4D9-E5E130381696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C15FB0-7B03-17AA-C094-65F4C9145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8DE28-165D-793C-DFA2-5047681CF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43AE3-9B9F-644C-B16E-906505865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800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E65F8-00C4-9BD3-5D26-45D50E20E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CD6D5-06B8-6D95-00E6-FCC79F0E86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B5BD85-FE0F-0638-962A-8A4C4D4F13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6F168A-D303-3A6F-5127-1F15953F5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AE559-9776-3E40-B4D9-E5E130381696}" type="datetimeFigureOut">
              <a:rPr lang="en-US" smtClean="0"/>
              <a:t>7/29/26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006217-86B6-4C7E-C114-4AE81D3E9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93BDAC-0907-1C62-9783-90C5311B9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43AE3-9B9F-644C-B16E-906505865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669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1F1BA-3A87-7E7A-4117-BF2892B05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079721-4BC9-2A6A-870C-7E6B72A036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13FAC7-60C0-959F-C60C-F9EB6C5461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5667AE-1866-9BF7-387D-A61F09398D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A1F368-FA54-9F50-3067-A8D5B7195D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85C418-720F-91EC-881B-248C97EF8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AE559-9776-3E40-B4D9-E5E130381696}" type="datetimeFigureOut">
              <a:rPr lang="en-US" smtClean="0"/>
              <a:t>7/29/26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98CBC1-E632-FDBA-483E-C72702E01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4D4164-9126-0D9B-26CE-7130D4472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43AE3-9B9F-644C-B16E-906505865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451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A3EA8-32E7-7F59-5BD8-B7FB074B7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62F254-7F0D-E8A0-9124-3F497D9F4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AE559-9776-3E40-B4D9-E5E130381696}" type="datetimeFigureOut">
              <a:rPr lang="en-US" smtClean="0"/>
              <a:t>7/29/26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2F74D0-CC54-68DB-18C7-9D4EF99D1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F0768B-9FEC-102E-713A-A1D49276A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43AE3-9B9F-644C-B16E-906505865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129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FB7F11-B158-A692-626F-093BEC905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AE559-9776-3E40-B4D9-E5E130381696}" type="datetimeFigureOut">
              <a:rPr lang="en-US" smtClean="0"/>
              <a:t>7/29/26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52F1AB-0E9C-E334-A027-D7E59B61C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350919-B961-2528-BFFB-16FF19F93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43AE3-9B9F-644C-B16E-906505865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961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BC25E-D3B9-A5AA-55FA-0A871E2C9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85769-AFE9-EC29-BAD5-F27EAA5C5D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A18D88-BEDA-AF31-1538-408B90CFA4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8CEAD0-BA25-94EF-EA94-5D6B116DA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AE559-9776-3E40-B4D9-E5E130381696}" type="datetimeFigureOut">
              <a:rPr lang="en-US" smtClean="0"/>
              <a:t>7/29/26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1F32B1-40A6-D636-119D-CB112E9D2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B2F79D-21AD-2B39-B554-1114610A4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43AE3-9B9F-644C-B16E-906505865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359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67AE2-9B47-4A8D-F705-0B0DAE7F9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A16707-8575-B9CE-7A22-6E3899FED1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307777-ADA9-894C-9170-474D5E5E47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B17D65-1E54-84F6-A5DA-2054DD700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AE559-9776-3E40-B4D9-E5E130381696}" type="datetimeFigureOut">
              <a:rPr lang="en-US" smtClean="0"/>
              <a:t>7/29/26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78E9C7-9CFC-C420-61E3-CCC520188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22F4D3-F7AA-527D-ED9F-44A17E512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43AE3-9B9F-644C-B16E-906505865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15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0CC20-F322-6B10-49B2-E29ECC0EE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55C5F7-0629-A42C-3021-94FF8A7C7A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50E232-9CCE-B7A4-B84B-6D9A8B8CD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AE559-9776-3E40-B4D9-E5E130381696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F0A2FA-8D7C-6F34-03CD-17C6249AC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E1F46-A05C-AC2A-030A-ED29CF70F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43AE3-9B9F-644C-B16E-906505865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747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C24FB3-9ED9-7FB9-D77D-7969A2AA44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9002A6-BC28-7B0F-26C1-9763ED8002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8E8A6A-5A55-6FCB-DDAD-8C5BEE413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AE559-9776-3E40-B4D9-E5E130381696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80E409-BC84-54D7-3AE7-DAA9A6A9B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9CB02-BE6C-6C5E-12E1-EC9AAEF92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43AE3-9B9F-644C-B16E-906505865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380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7BB46C-A58D-F844-06D7-2725F75E0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CC5CFA-6972-4D5E-7855-B82BF93EBF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66F17-6E02-F06D-C7F7-B16209A2D3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8AE559-9776-3E40-B4D9-E5E130381696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326085-4E37-F19B-7A2E-F814F12A09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69229-2938-3FEA-DA6A-058A1351E3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443AE3-9B9F-644C-B16E-906505865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560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org&amp;utm_campaign=index&amp;utm_content=thumbnail_unscaled&amp;_=20130430141003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8E7310-E07F-7390-2C71-C8E71998E006}"/>
              </a:ext>
            </a:extLst>
          </p:cNvPr>
          <p:cNvSpPr txBox="1"/>
          <p:nvPr/>
        </p:nvSpPr>
        <p:spPr>
          <a:xfrm>
            <a:off x="624687" y="4868274"/>
            <a:ext cx="54713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 Aryn89 - Own work, CC BY-SA 4.0, https://</a:t>
            </a:r>
            <a:r>
              <a:rPr lang="en-US" dirty="0" err="1"/>
              <a:t>commons.wikimedia.org</a:t>
            </a:r>
            <a:r>
              <a:rPr lang="en-US" dirty="0"/>
              <a:t>/w/</a:t>
            </a:r>
            <a:r>
              <a:rPr lang="en-US" dirty="0" err="1"/>
              <a:t>index.php?curid</a:t>
            </a:r>
            <a:r>
              <a:rPr lang="en-US" dirty="0"/>
              <a:t>=37195209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DCFF562-BA79-8B88-4598-9656BE6417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4686" y="531339"/>
            <a:ext cx="3799272" cy="4188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021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436B22B2-3037-5499-FE80-FA492CB79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9453"/>
            <a:ext cx="11510166" cy="4058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545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938B00-04ED-2BB6-1BF8-34424BBEDC13}"/>
              </a:ext>
            </a:extLst>
          </p:cNvPr>
          <p:cNvSpPr txBox="1"/>
          <p:nvPr/>
        </p:nvSpPr>
        <p:spPr>
          <a:xfrm>
            <a:off x="1789671" y="2828835"/>
            <a:ext cx="86126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ITMKHKLGGGQYGEVYEGVWKKYSLTVAVKTLKEDTMEVEEFLKEAAVMKEIKHPNLVQLLGVCTREPPFYIITEFMTYGNLLDYLRECNRQEVNAVVLLYMATQISSAMEYLEKKNFIHRDLAARNCLVGENHLVKVADFGLSRLMTGDTYTAHAGAKFPIKWTAPESLAYNKFSIKSDVWAFGVLLWEIATYGMSPYPGIDLSQVYELLEKDYRMERPEGCPEKVYELMRACWQWNPSDRPSFAEIHQAF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062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C248D4-936B-73AD-E3E3-58DBE99DD7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024" b="13595"/>
          <a:stretch>
            <a:fillRect/>
          </a:stretch>
        </p:blipFill>
        <p:spPr>
          <a:xfrm>
            <a:off x="3929450" y="2161661"/>
            <a:ext cx="3244980" cy="23609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08132B2-928F-7D80-825F-EDE066E1682F}"/>
              </a:ext>
            </a:extLst>
          </p:cNvPr>
          <p:cNvSpPr txBox="1"/>
          <p:nvPr/>
        </p:nvSpPr>
        <p:spPr>
          <a:xfrm>
            <a:off x="1712742" y="5128054"/>
            <a:ext cx="7117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c1ccc(NC(=O)c2ccc(CN3CCN(C)CC3)cc2)cc1Nc1nccc(-c2ccncc2)n1</a:t>
            </a:r>
          </a:p>
        </p:txBody>
      </p:sp>
    </p:spTree>
    <p:extLst>
      <p:ext uri="{BB962C8B-B14F-4D97-AF65-F5344CB8AC3E}">
        <p14:creationId xmlns:p14="http://schemas.microsoft.com/office/powerpoint/2010/main" val="263811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A469F629-D822-86B6-762A-534ADBA2A4D8}"/>
              </a:ext>
            </a:extLst>
          </p:cNvPr>
          <p:cNvSpPr/>
          <p:nvPr/>
        </p:nvSpPr>
        <p:spPr>
          <a:xfrm>
            <a:off x="4644893" y="2267463"/>
            <a:ext cx="3546389" cy="258256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32D4DD9-BC06-FF51-175B-B58549A60232}"/>
              </a:ext>
            </a:extLst>
          </p:cNvPr>
          <p:cNvSpPr/>
          <p:nvPr/>
        </p:nvSpPr>
        <p:spPr>
          <a:xfrm>
            <a:off x="651831" y="4009012"/>
            <a:ext cx="3273531" cy="241575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3DEB8C1-D28C-00AC-14C2-F499766817DE}"/>
              </a:ext>
            </a:extLst>
          </p:cNvPr>
          <p:cNvSpPr/>
          <p:nvPr/>
        </p:nvSpPr>
        <p:spPr>
          <a:xfrm>
            <a:off x="651831" y="2968354"/>
            <a:ext cx="3273531" cy="6645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1127855-D0AC-D663-F9DF-4EBB38BDE9F0}"/>
              </a:ext>
            </a:extLst>
          </p:cNvPr>
          <p:cNvSpPr/>
          <p:nvPr/>
        </p:nvSpPr>
        <p:spPr>
          <a:xfrm>
            <a:off x="651832" y="1124619"/>
            <a:ext cx="3273532" cy="11358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File:An excerpt of a multiple sequence alignment of TMEM66 proteins.png">
            <a:extLst>
              <a:ext uri="{FF2B5EF4-FFF2-40B4-BE49-F238E27FC236}">
                <a16:creationId xmlns:a16="http://schemas.microsoft.com/office/drawing/2014/main" id="{B7A85911-B993-0070-5199-95038E323C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546" y="4362104"/>
            <a:ext cx="2990708" cy="189058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7F2514C-0373-5967-AA24-A989AC8AE4E4}"/>
              </a:ext>
            </a:extLst>
          </p:cNvPr>
          <p:cNvSpPr txBox="1"/>
          <p:nvPr/>
        </p:nvSpPr>
        <p:spPr>
          <a:xfrm>
            <a:off x="651832" y="1479716"/>
            <a:ext cx="32735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/>
              <a:t>ITMKHKLGGGQYGEVYEGVWKKYSLTVAVKTLKEDTMEVEEFLKEAAVMKEIKHPNLVQLLGVCTREPPFYIITEFMTYGNLLDYLRECNRQEVNAVVLLYMATQISSAMEYLEKKNFIHRDLAARNCLVGENHLVKVADFGLSRLMTGDTYTAHAGAKFPIKWTAPESLAYNKFSIKSDVWAFGVLLWEIATYGMSPYPGIDLSQVYELLEKDYRMERPEGCPEKVYELMRACWQWNPSDRPSFAEIHQAF</a:t>
            </a:r>
            <a:endParaRPr lang="en-US" sz="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42ECB5-3D45-84BD-8B68-C93D157221B7}"/>
              </a:ext>
            </a:extLst>
          </p:cNvPr>
          <p:cNvSpPr txBox="1"/>
          <p:nvPr/>
        </p:nvSpPr>
        <p:spPr>
          <a:xfrm>
            <a:off x="633619" y="3321278"/>
            <a:ext cx="32917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/>
              <a:t>c1ccc(NC(=O)c2ccc(CN3CCN(C)CC3)cc2)cc1Nc1nccc(-c2ccncc2)n1</a:t>
            </a:r>
          </a:p>
        </p:txBody>
      </p:sp>
      <p:pic>
        <p:nvPicPr>
          <p:cNvPr id="6" name="Picture 5" descr="File:Multi-Layer Neural Network-Vector.svg - Wikimedia Commons">
            <a:extLst>
              <a:ext uri="{FF2B5EF4-FFF2-40B4-BE49-F238E27FC236}">
                <a16:creationId xmlns:a16="http://schemas.microsoft.com/office/drawing/2014/main" id="{87598750-9E4E-637B-5AEA-510FCCB390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4566"/>
          <a:stretch>
            <a:fillRect/>
          </a:stretch>
        </p:blipFill>
        <p:spPr>
          <a:xfrm>
            <a:off x="4957590" y="2948375"/>
            <a:ext cx="2920996" cy="14800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53084F0-9AB0-63D7-7027-2ABA706F55CC}"/>
              </a:ext>
            </a:extLst>
          </p:cNvPr>
          <p:cNvSpPr txBox="1"/>
          <p:nvPr/>
        </p:nvSpPr>
        <p:spPr>
          <a:xfrm>
            <a:off x="651832" y="1110384"/>
            <a:ext cx="1923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Protein sequence</a:t>
            </a:r>
            <a:endParaRPr lang="en-US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0EDBB6-9720-DE75-5A04-8BF44EA782F7}"/>
              </a:ext>
            </a:extLst>
          </p:cNvPr>
          <p:cNvSpPr txBox="1"/>
          <p:nvPr/>
        </p:nvSpPr>
        <p:spPr>
          <a:xfrm>
            <a:off x="651832" y="2998963"/>
            <a:ext cx="1803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Ligand structure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8BF9AF-9F36-868C-C9ED-D0CBD598EC9F}"/>
              </a:ext>
            </a:extLst>
          </p:cNvPr>
          <p:cNvSpPr txBox="1"/>
          <p:nvPr/>
        </p:nvSpPr>
        <p:spPr>
          <a:xfrm>
            <a:off x="633619" y="4009011"/>
            <a:ext cx="3175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Multiple sequence alignment*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57751AE-9662-B4ED-2C7F-71ACEDD4CB7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8927" t="6446" r="38277" b="11048"/>
          <a:stretch>
            <a:fillRect/>
          </a:stretch>
        </p:blipFill>
        <p:spPr>
          <a:xfrm>
            <a:off x="9496171" y="1528781"/>
            <a:ext cx="1617733" cy="2607445"/>
          </a:xfrm>
          <a:prstGeom prst="rect">
            <a:avLst/>
          </a:prstGeom>
        </p:spPr>
      </p:pic>
      <p:pic>
        <p:nvPicPr>
          <p:cNvPr id="13" name="Picture 12" descr="File:Predicted Aligned Error.png - Wikimedia Commons">
            <a:extLst>
              <a:ext uri="{FF2B5EF4-FFF2-40B4-BE49-F238E27FC236}">
                <a16:creationId xmlns:a16="http://schemas.microsoft.com/office/drawing/2014/main" id="{E6928B4B-4DC9-1355-B6C8-0C494FF2267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1025" t="7841" r="1025" b="6397"/>
          <a:stretch>
            <a:fillRect/>
          </a:stretch>
        </p:blipFill>
        <p:spPr>
          <a:xfrm>
            <a:off x="9415318" y="4743637"/>
            <a:ext cx="1617734" cy="162368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5D50B89-E944-86CF-4DCB-6FDC1DFEA15F}"/>
              </a:ext>
            </a:extLst>
          </p:cNvPr>
          <p:cNvSpPr txBox="1"/>
          <p:nvPr/>
        </p:nvSpPr>
        <p:spPr>
          <a:xfrm>
            <a:off x="3012830" y="334376"/>
            <a:ext cx="6974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Protein-ligand structure prediction by deep learning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F8B2A2-0434-778C-FA93-E4F8A3843EF6}"/>
              </a:ext>
            </a:extLst>
          </p:cNvPr>
          <p:cNvSpPr txBox="1"/>
          <p:nvPr/>
        </p:nvSpPr>
        <p:spPr>
          <a:xfrm>
            <a:off x="4694380" y="2438535"/>
            <a:ext cx="3184206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Alphafold3/Boltz2/Chai-1, etc.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758D01-CBD4-9848-067E-94689D571F89}"/>
              </a:ext>
            </a:extLst>
          </p:cNvPr>
          <p:cNvSpPr txBox="1"/>
          <p:nvPr/>
        </p:nvSpPr>
        <p:spPr>
          <a:xfrm>
            <a:off x="9181070" y="1295050"/>
            <a:ext cx="1425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3D structure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FC4DA0-7C95-71FE-59CD-73429AB8FDFD}"/>
              </a:ext>
            </a:extLst>
          </p:cNvPr>
          <p:cNvSpPr txBox="1"/>
          <p:nvPr/>
        </p:nvSpPr>
        <p:spPr>
          <a:xfrm>
            <a:off x="9279058" y="4283991"/>
            <a:ext cx="2149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Confidence metrics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6B6B311-5F03-F761-F8D5-8C9D2090DE3E}"/>
              </a:ext>
            </a:extLst>
          </p:cNvPr>
          <p:cNvSpPr/>
          <p:nvPr/>
        </p:nvSpPr>
        <p:spPr>
          <a:xfrm>
            <a:off x="9181070" y="1295050"/>
            <a:ext cx="2247936" cy="289862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4C3E6E7-64CC-FCE5-35B9-B4E5B6BE145E}"/>
              </a:ext>
            </a:extLst>
          </p:cNvPr>
          <p:cNvSpPr/>
          <p:nvPr/>
        </p:nvSpPr>
        <p:spPr>
          <a:xfrm>
            <a:off x="9181070" y="4290170"/>
            <a:ext cx="2247936" cy="229598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3B68C96B-3535-1F2C-F9F8-00C1FDBC837E}"/>
              </a:ext>
            </a:extLst>
          </p:cNvPr>
          <p:cNvCxnSpPr/>
          <p:nvPr/>
        </p:nvCxnSpPr>
        <p:spPr>
          <a:xfrm>
            <a:off x="3944072" y="2053924"/>
            <a:ext cx="708422" cy="538609"/>
          </a:xfrm>
          <a:prstGeom prst="bentConnector3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08C7594E-6DBB-2264-82E5-3735B26F4FCD}"/>
              </a:ext>
            </a:extLst>
          </p:cNvPr>
          <p:cNvCxnSpPr>
            <a:cxnSpLocks/>
          </p:cNvCxnSpPr>
          <p:nvPr/>
        </p:nvCxnSpPr>
        <p:spPr>
          <a:xfrm>
            <a:off x="3943574" y="3330421"/>
            <a:ext cx="708920" cy="206301"/>
          </a:xfrm>
          <a:prstGeom prst="bentConnector3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04BE42C9-A3DE-B82F-0797-2E05BB46FE60}"/>
              </a:ext>
            </a:extLst>
          </p:cNvPr>
          <p:cNvCxnSpPr>
            <a:cxnSpLocks/>
          </p:cNvCxnSpPr>
          <p:nvPr/>
        </p:nvCxnSpPr>
        <p:spPr>
          <a:xfrm flipV="1">
            <a:off x="3943574" y="4311148"/>
            <a:ext cx="707612" cy="514331"/>
          </a:xfrm>
          <a:prstGeom prst="bentConnector3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9500D3CD-3391-47C7-34C8-AC0070CF29CF}"/>
              </a:ext>
            </a:extLst>
          </p:cNvPr>
          <p:cNvCxnSpPr>
            <a:cxnSpLocks/>
          </p:cNvCxnSpPr>
          <p:nvPr/>
        </p:nvCxnSpPr>
        <p:spPr>
          <a:xfrm>
            <a:off x="8220753" y="4136226"/>
            <a:ext cx="948803" cy="927338"/>
          </a:xfrm>
          <a:prstGeom prst="bentConnector3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E041C482-C0F6-16C6-E968-082864A0136D}"/>
              </a:ext>
            </a:extLst>
          </p:cNvPr>
          <p:cNvCxnSpPr>
            <a:cxnSpLocks/>
            <a:endCxn id="22" idx="1"/>
          </p:cNvCxnSpPr>
          <p:nvPr/>
        </p:nvCxnSpPr>
        <p:spPr>
          <a:xfrm flipV="1">
            <a:off x="8232266" y="2744364"/>
            <a:ext cx="948804" cy="677029"/>
          </a:xfrm>
          <a:prstGeom prst="bentConnector3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F3B66652-16E1-AD2B-C7E9-634E01A05D88}"/>
              </a:ext>
            </a:extLst>
          </p:cNvPr>
          <p:cNvSpPr txBox="1"/>
          <p:nvPr/>
        </p:nvSpPr>
        <p:spPr>
          <a:xfrm>
            <a:off x="586833" y="6443920"/>
            <a:ext cx="2664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*may be given, or generated on the fly</a:t>
            </a:r>
          </a:p>
        </p:txBody>
      </p:sp>
    </p:spTree>
    <p:extLst>
      <p:ext uri="{BB962C8B-B14F-4D97-AF65-F5344CB8AC3E}">
        <p14:creationId xmlns:p14="http://schemas.microsoft.com/office/powerpoint/2010/main" val="395844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8939</TotalTime>
  <Words>107</Words>
  <Application>Microsoft Macintosh PowerPoint</Application>
  <PresentationFormat>Widescreen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Charles Laughton (staff)</dc:creator>
  <cp:lastModifiedBy>Charles Laughton (staff)</cp:lastModifiedBy>
  <cp:revision>1</cp:revision>
  <dcterms:created xsi:type="dcterms:W3CDTF">2026-07-29T07:59:13Z</dcterms:created>
  <dcterms:modified xsi:type="dcterms:W3CDTF">2026-08-04T12:58:47Z</dcterms:modified>
</cp:coreProperties>
</file>